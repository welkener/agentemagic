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Frase-chave: não vamos construir um ERP nem um sistema fiscal — vamos colocar a conveniência do WhatsApp + IA por cima da infraestrutura que o governo e os ERPs já mantêm validada. O piloto é com a base de clientes da Rotina.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oportunidade não é só 'boa ideia técnica' — é timing regulatório. Três datas forçam adequação. O diferencial da Rotina: ela já tem a confiança desses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Mudança de direção registrada no documento. Estrategicamente superior: menos responsabilidade regulatória, mais foco no diferencial defensável (UX/IA). A Rotina vira o canal.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produtos com modelos de risco e receita diferentes, mas o mesmo canal de distribuição: a Rotina. Começamos pelos dois mais confirmados e de menor atrito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1 do roadmap. NFS-e é federal e padronizada desde 2023 — uma integração, cobertura nacional. O passo crítico é custódia: procuração eletrônica, nunca guardar .pfx cru.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Reduz drasticamente o atrito de venda — não é uma troca de sistema, é conectar o que já existe. No piloto, escrita fica limitada aos tiers baixos (consultar e rascunhar).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coração da tese de go-to-market. O canal contábil resolve simultaneamente CAC, risco fiscal e retenção. É o que torna o piloto viável e o negócio defensável.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recomendado: B2B2C white-label por assento. MEI = assinatura baixa fixa. ME/EPP = setup + assinatura por uso. A Rotina compra no atacado e marca. Evitar cobrança por IA e contrato anual prematuro.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Padrão central: uma interface interna única, um adaptador por integração. Permite atender cliente Conta Azul e, depois, Bling/Tiny sem reescrever a lógica do agente. Credenciais sempre isoladas em cofre.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deliberadamente enxuto para o piloto, mas já com os pilares de produção: idempotência, cofre de segredos e trilha de auditoria fiscal. Região Brasil por LGPD.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Custódia = senha do banco do cliente. Começamos por procuração eletrônica (sem guardar certificado). NUNCA armazenar .pfx cru. LGPD: DPA com a Rotina, auditoria e contingência obrigatórios.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Mesma governança para ações fiscais e de ERP. No piloto travamos em Tier 0-1 (ler e rascunhar). Idempotência evita nota/pedido em duplicidade quando a mensagem repete.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Piloto deliberadamente estreito: 1 região fiscal + 2 produtos confirmados, coortes pequenas e controladas. Critério de saída: ativação, adoção, erro ~zero, NPS e disposição a pagar.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e CTA. Os seis itens do checklist de kickoff. Mensagem final: disciplina de escopo — provar valor estreito antes de expandir ERPs e estados.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image" Target="../media/image-4-6.png"/><Relationship Id="rId7" Type="http://schemas.openxmlformats.org/officeDocument/2006/relationships/image" Target="../media/image-4-2.png"/><Relationship Id="rId8" Type="http://schemas.openxmlformats.org/officeDocument/2006/relationships/image" Target="../media/image-4-2.png"/><Relationship Id="rId9" Type="http://schemas.openxmlformats.org/officeDocument/2006/relationships/image" Target="../media/image-4-2.png"/><Relationship Id="rId10" Type="http://schemas.openxmlformats.org/officeDocument/2006/relationships/image" Target="../media/image-4-2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image" Target="../media/image-14-2.png"/><Relationship Id="rId5" Type="http://schemas.openxmlformats.org/officeDocument/2006/relationships/image" Target="../media/image-14-2.png"/><Relationship Id="rId6" Type="http://schemas.openxmlformats.org/officeDocument/2006/relationships/image" Target="../media/image-14-2.png"/><Relationship Id="rId7" Type="http://schemas.openxmlformats.org/officeDocument/2006/relationships/image" Target="../media/image-14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035040" cy="6035040"/>
          </a:xfrm>
          <a:prstGeom prst="ellipse">
            <a:avLst/>
          </a:prstGeom>
          <a:solidFill>
            <a:srgbClr val="14146A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566160"/>
            <a:ext cx="4206240" cy="4206240"/>
          </a:xfrm>
          <a:prstGeom prst="ellipse">
            <a:avLst/>
          </a:prstGeom>
          <a:solidFill>
            <a:srgbClr val="00004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66928"/>
            <a:ext cx="841248" cy="841248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pic>
        <p:nvPicPr>
          <p:cNvPr id="5" name="Image 0" descr="/home/claude/deck/assets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85800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566928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Contábil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66928" y="228600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Gestão e Fiscal</a:t>
            </a:r>
            <a:endParaRPr lang="en-US" sz="5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 WhatsApp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566928" y="43434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agentes de IA sobre a infraestrutura que </a:t>
            </a:r>
            <a:pPr indent="0" marL="0">
              <a:buNone/>
            </a:pPr>
            <a:r>
              <a:rPr lang="en-US" sz="1700" b="1" dirty="0">
                <a:solidFill>
                  <a:srgbClr val="E8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existe</a:t>
            </a:r>
            <a:pPr indent="0" marL="0">
              <a:buNone/>
            </a:pPr>
            <a:r>
              <a:rPr lang="en-US" sz="170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governo (NFS-e) e Conta Azul.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6928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PILOTO  ·  ESCRITÓRIO ROTINA CONTÁBIL  ·  JUN/2026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JANELA DE MERCADO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Existe uma onda de adequação fiscal — e ninguém explica isso pro pequeno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3503066" cy="3200400"/>
          </a:xfrm>
          <a:prstGeom prst="roundRect">
            <a:avLst>
              <a:gd name="adj" fmla="val 3429"/>
            </a:avLst>
          </a:prstGeom>
          <a:solidFill>
            <a:srgbClr val="F4F4FB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pic>
        <p:nvPicPr>
          <p:cNvPr id="5" name="Image 0" descr="/home/claude/deck/assets/ic_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331720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3063240"/>
            <a:ext cx="29544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abr/2026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41248" y="3749040"/>
            <a:ext cx="295442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Inscrição Estadual e documento fiscal eletrônico passam a ser obrigatórios para MEI com atividade sujeita a ICMS (decreto em vários estados).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44314" y="2057400"/>
            <a:ext cx="3503066" cy="3200400"/>
          </a:xfrm>
          <a:prstGeom prst="roundRect">
            <a:avLst>
              <a:gd name="adj" fmla="val 3429"/>
            </a:avLst>
          </a:prstGeom>
          <a:solidFill>
            <a:srgbClr val="F4F4FB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pic>
        <p:nvPicPr>
          <p:cNvPr id="9" name="Image 1" descr="/home/claude/deck/assets/ic_do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634" y="2331720"/>
            <a:ext cx="603504" cy="6035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8634" y="3063240"/>
            <a:ext cx="29544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4618634" y="3749040"/>
            <a:ext cx="295442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NF-e e NFC-e em novo leiaute obrigatórias para todos, incluindo MEI (Nota Técnica ENCAT / Reforma Tributária). 2026 é o ano de adequação.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121701" y="2057400"/>
            <a:ext cx="3503066" cy="3200400"/>
          </a:xfrm>
          <a:prstGeom prst="roundRect">
            <a:avLst>
              <a:gd name="adj" fmla="val 3429"/>
            </a:avLst>
          </a:prstGeom>
          <a:solidFill>
            <a:srgbClr val="F4F4FB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pic>
        <p:nvPicPr>
          <p:cNvPr id="13" name="Image 2" descr="/home/claude/deck/assets/ic_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021" y="2331720"/>
            <a:ext cx="603504" cy="6035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96021" y="3063240"/>
            <a:ext cx="29544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jan/2026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8396021" y="3749040"/>
            <a:ext cx="295442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 campos de IBS/CBS já valendo na NFS-e — sistemas desatualizados já estão tomando rejeição de nota.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566928" y="553212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Tradução para o negócio:  </a:t>
            </a:r>
            <a:pPr algn="ctr" indent="0" marL="0">
              <a:buNone/>
            </a:pPr>
            <a:r>
              <a:rPr lang="en-US" sz="14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próximos 12–18 meses há uma fila concreta de MEIs e pequenas empresas que </a:t>
            </a:r>
            <a:pPr algn="ctr" indent="0" marL="0">
              <a:buNone/>
            </a:pPr>
            <a:r>
              <a:rPr lang="en-US" sz="14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precisam se adequar e não sabem como</a:t>
            </a:r>
            <a:pPr algn="ctr" indent="0" marL="0">
              <a:buNone/>
            </a:pPr>
            <a:r>
              <a:rPr lang="en-US" sz="14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É a hora de entrar.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pic>
        <p:nvPicPr>
          <p:cNvPr id="18" name="Image 3" descr="/home/claude/deck/assets/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364224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7824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Contábil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303520" cy="5303520"/>
          </a:xfrm>
          <a:prstGeom prst="ellipse">
            <a:avLst/>
          </a:prstGeom>
          <a:solidFill>
            <a:srgbClr val="14146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INSIGHT ESTRATÉGICO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construir um ERP. Conectar ao que já existe.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00004A"/>
          </a:solidFill>
          <a:ln w="12700">
            <a:solidFill>
              <a:srgbClr val="2323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NÃO vamos fazer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86968" y="3063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98448" y="30449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um sistema fiscal/contábil certificado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6968" y="37764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98448" y="37581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Reconstruir a complexidade dos 27 SEFAZ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" y="44897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98448" y="447141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pro cliente trocar de ERP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6968" y="52029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98448" y="51846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Assumir o leiaute fiscal que muda a cada nota técnica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214884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E8A93C"/>
          </a:solidFill>
          <a:ln w="12700">
            <a:solidFill>
              <a:srgbClr val="E8A9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VAMOS fazer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720840" y="3063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132320" y="30449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que falam com a API do governo (NFS-e)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37764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132320" y="37581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que falam com a API do Conta Azul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20840" y="44897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32320" y="447141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Experiência via WhatsApp + IA por cima disso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20840" y="52029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132320" y="51846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no nosso diferencial real: conveniência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Contábil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PORTFÓLIO DO PILOTO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Dois produtos, um único canal: a Rotina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530032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33172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00066"/>
          </a:solidFill>
          <a:ln/>
        </p:spPr>
      </p:sp>
      <p:pic>
        <p:nvPicPr>
          <p:cNvPr id="6" name="Image 0" descr="/home/claude/deck/assets/ic_doc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4688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38528" y="2395728"/>
            <a:ext cx="365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 Fiscal MEI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86968" y="3383280"/>
            <a:ext cx="466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Emite nota fiscal de serviço (NFS-e) pelo WhatsApp, sem o cliente aprender portal de governo.</a:t>
            </a:r>
            <a:endParaRPr lang="en-US" sz="1450" dirty="0"/>
          </a:p>
        </p:txBody>
      </p:sp>
      <p:pic>
        <p:nvPicPr>
          <p:cNvPr id="9" name="Image 1" descr="/home/claude/deck/assets/ic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437083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4334256"/>
            <a:ext cx="429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Público: MEI prestador de serviço</a:t>
            </a:r>
            <a:endParaRPr lang="en-US" sz="1250" dirty="0"/>
          </a:p>
        </p:txBody>
      </p:sp>
      <p:pic>
        <p:nvPicPr>
          <p:cNvPr id="11" name="Image 2" descr="/home/claude/deck/assets/ic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791456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4754880"/>
            <a:ext cx="429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Integração: API NFS-e Nacional (cobertura Brasil inteiro)</a:t>
            </a:r>
            <a:endParaRPr lang="en-US" sz="1250" dirty="0"/>
          </a:p>
        </p:txBody>
      </p:sp>
      <p:pic>
        <p:nvPicPr>
          <p:cNvPr id="13" name="Image 3" descr="/home/claude/deck/assets/ic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5212080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5175504"/>
            <a:ext cx="429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alto · ticket baixo</a:t>
            </a:r>
            <a:endParaRPr lang="en-US" sz="1250" dirty="0"/>
          </a:p>
        </p:txBody>
      </p:sp>
      <p:pic>
        <p:nvPicPr>
          <p:cNvPr id="15" name="Image 4" descr="/home/claude/deck/assets/ic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632704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80160" y="5596128"/>
            <a:ext cx="429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seguinte: NF-e de produto via middleware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324448" y="2057400"/>
            <a:ext cx="530032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6644488" y="233172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E8A93C"/>
          </a:solidFill>
          <a:ln/>
        </p:spPr>
      </p:sp>
      <p:pic>
        <p:nvPicPr>
          <p:cNvPr id="19" name="Image 5" descr="/home/claude/deck/assets/ic_chat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1648" y="2468880"/>
            <a:ext cx="594360" cy="5943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696048" y="2395728"/>
            <a:ext cx="365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 Conta Azul</a:t>
            </a:r>
            <a:endParaRPr lang="en-US" sz="2200" dirty="0"/>
          </a:p>
        </p:txBody>
      </p:sp>
      <p:sp>
        <p:nvSpPr>
          <p:cNvPr id="21" name="Text 13"/>
          <p:cNvSpPr/>
          <p:nvPr/>
        </p:nvSpPr>
        <p:spPr>
          <a:xfrm>
            <a:off x="6644488" y="3383280"/>
            <a:ext cx="466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pedidos, estoque e financeiro pelo WhatsApp — sem trocar o ERP que o cliente já usa.</a:t>
            </a:r>
            <a:endParaRPr lang="en-US" sz="1450" dirty="0"/>
          </a:p>
        </p:txBody>
      </p:sp>
      <p:pic>
        <p:nvPicPr>
          <p:cNvPr id="22" name="Image 6" descr="/home/claude/deck/assets/ic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0208" y="4370832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037680" y="4334256"/>
            <a:ext cx="429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Público: ME / EPP cliente da Rotina</a:t>
            </a:r>
            <a:endParaRPr lang="en-US" sz="1250" dirty="0"/>
          </a:p>
        </p:txBody>
      </p:sp>
      <p:pic>
        <p:nvPicPr>
          <p:cNvPr id="24" name="Image 7" descr="/home/claude/deck/assets/ic_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0208" y="4791456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037680" y="4754880"/>
            <a:ext cx="429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Integração: API Conta Azul (REST · OAuth2)</a:t>
            </a:r>
            <a:endParaRPr lang="en-US" sz="1250" dirty="0"/>
          </a:p>
        </p:txBody>
      </p:sp>
      <p:pic>
        <p:nvPicPr>
          <p:cNvPr id="26" name="Image 8" descr="/home/claude/deck/assets/ic_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0208" y="5212080"/>
            <a:ext cx="237744" cy="237744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7037680" y="5175504"/>
            <a:ext cx="429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mais alto · implementação + assinatura</a:t>
            </a:r>
            <a:endParaRPr lang="en-US" sz="1250" dirty="0"/>
          </a:p>
        </p:txBody>
      </p:sp>
      <p:pic>
        <p:nvPicPr>
          <p:cNvPr id="28" name="Image 9" descr="/home/claude/deck/assets/ic_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0208" y="5632704"/>
            <a:ext cx="237744" cy="237744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7037680" y="5596128"/>
            <a:ext cx="429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por tiers de risco (0–3)</a:t>
            </a:r>
            <a:endParaRPr lang="en-US" sz="1250" dirty="0"/>
          </a:p>
        </p:txBody>
      </p:sp>
      <p:sp>
        <p:nvSpPr>
          <p:cNvPr id="30" name="Text 1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31" name="Image 10" descr="/home/claude/deck/assets/mar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928" y="6364224"/>
            <a:ext cx="237744" cy="237744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877824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Contábil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 Fiscal MEI — NFS-e pelo WhatsApp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funciona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E8A93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5528" y="2971800"/>
            <a:ext cx="0" cy="475488"/>
          </a:xfrm>
          <a:prstGeom prst="line">
            <a:avLst/>
          </a:prstGeom>
          <a:noFill/>
          <a:ln w="25400">
            <a:solidFill>
              <a:srgbClr val="E5E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5296" y="24780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escreve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25296" y="2788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“emite nota de R$ 800 pro cliente X, serviço de design”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447288"/>
            <a:ext cx="457200" cy="457200"/>
          </a:xfrm>
          <a:prstGeom prst="ellipse">
            <a:avLst/>
          </a:prstGeom>
          <a:solidFill>
            <a:srgbClr val="5B67C9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5528" y="3904488"/>
            <a:ext cx="0" cy="475488"/>
          </a:xfrm>
          <a:prstGeom prst="line">
            <a:avLst/>
          </a:prstGeom>
          <a:noFill/>
          <a:ln w="25400">
            <a:solidFill>
              <a:srgbClr val="E5E5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34107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valida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5296" y="37216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 CNAE, valor e dados; nunca “inventa” alíquota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379976"/>
            <a:ext cx="457200" cy="457200"/>
          </a:xfrm>
          <a:prstGeom prst="ellipse">
            <a:avLst/>
          </a:prstGeom>
          <a:solidFill>
            <a:srgbClr val="E8A93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5528" y="4837176"/>
            <a:ext cx="0" cy="475488"/>
          </a:xfrm>
          <a:prstGeom prst="line">
            <a:avLst/>
          </a:prstGeom>
          <a:noFill/>
          <a:ln w="25400">
            <a:solidFill>
              <a:srgbClr val="E5E5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343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Emissão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25296" y="465429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API NFS-e Nacional (ambiente restrito → produção)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312664"/>
            <a:ext cx="457200" cy="457200"/>
          </a:xfrm>
          <a:prstGeom prst="ellipse">
            <a:avLst/>
          </a:prstGeom>
          <a:solidFill>
            <a:srgbClr val="E8A93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25296" y="52760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25296" y="558698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PDF/DANFSE e link voltam no próprio WhatsApp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2011680"/>
            <a:ext cx="5132527" cy="4114800"/>
          </a:xfrm>
          <a:prstGeom prst="roundRect">
            <a:avLst>
              <a:gd name="adj" fmla="val 2667"/>
            </a:avLst>
          </a:prstGeom>
          <a:solidFill>
            <a:srgbClr val="F4F4FB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pic>
        <p:nvPicPr>
          <p:cNvPr id="25" name="Image 0" descr="/home/claude/deck/assets/ic_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286000"/>
            <a:ext cx="548640" cy="5486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452360" y="22677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alcance, menor esforço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452360" y="2615184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única integração (NFS-e Nacional / ADN) cobre o Brasil inteiro para serviço.</a:t>
            </a:r>
            <a:endParaRPr lang="en-US" sz="1250" dirty="0"/>
          </a:p>
        </p:txBody>
      </p:sp>
      <p:pic>
        <p:nvPicPr>
          <p:cNvPr id="28" name="Image 1" descr="/home/claude/deck/assets/ic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3584448"/>
            <a:ext cx="548640" cy="54864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452360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Custódia por procuração eletrônica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7452360" y="391363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gov.br / e-CAC com escopo limitado. Nunca armazenar o certificado .pfx do cliente.</a:t>
            </a:r>
            <a:endParaRPr lang="en-US" sz="1250" dirty="0"/>
          </a:p>
        </p:txBody>
      </p:sp>
      <p:pic>
        <p:nvPicPr>
          <p:cNvPr id="31" name="Image 2" descr="/home/claude/deck/assets/ic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4882896"/>
            <a:ext cx="548640" cy="54864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452360" y="48646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via Rotina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7452360" y="52120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escritório oferece como módulo à sua base MEI — venda já “quente”.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35" name="Image 3" descr="/home/claude/deck/assets/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364224"/>
            <a:ext cx="237744" cy="23774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77824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Contábil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 Conta Azul — gestão e financeiro pelo WhatsApp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252443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pic>
        <p:nvPicPr>
          <p:cNvPr id="5" name="Image 0" descr="/home/claude/deck/assets/ic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26080"/>
            <a:ext cx="2067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Vendas &amp; Pedidos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3291840"/>
            <a:ext cx="20672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e rascunhar pedidos por mensagem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11398" y="2057400"/>
            <a:ext cx="252443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pic>
        <p:nvPicPr>
          <p:cNvPr id="9" name="Image 1" descr="/home/claude/deck/assets/ic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430" y="22860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67430" y="2926080"/>
            <a:ext cx="2067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Estoque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3667430" y="3291840"/>
            <a:ext cx="20672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Posição de estoque e alertas sob demanda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55868" y="2057400"/>
            <a:ext cx="252443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pic>
        <p:nvPicPr>
          <p:cNvPr id="13" name="Image 2" descr="/home/claude/deck/assets/ic_c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22860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11900" y="2926080"/>
            <a:ext cx="2067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511900" y="3291840"/>
            <a:ext cx="20672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Contas a pagar/receber e fluxo de caixa resumido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9100337" y="2057400"/>
            <a:ext cx="252443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pic>
        <p:nvPicPr>
          <p:cNvPr id="17" name="Image 3" descr="/home/claude/deck/assets/ic_do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369" y="228600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356369" y="2926080"/>
            <a:ext cx="2067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fiscais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9356369" y="3291840"/>
            <a:ext cx="20672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Acompanhar emissão e status direto no chat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66928" y="4160520"/>
            <a:ext cx="11057839" cy="1965960"/>
          </a:xfrm>
          <a:prstGeom prst="roundRect">
            <a:avLst>
              <a:gd name="adj" fmla="val 5581"/>
            </a:avLst>
          </a:prstGeom>
          <a:solidFill>
            <a:srgbClr val="000066"/>
          </a:solidFill>
          <a:ln/>
        </p:spPr>
      </p:sp>
      <p:sp>
        <p:nvSpPr>
          <p:cNvPr id="21" name="Text 15"/>
          <p:cNvSpPr/>
          <p:nvPr/>
        </p:nvSpPr>
        <p:spPr>
          <a:xfrm>
            <a:off x="932688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argumento de venda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932688" y="480060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“Não pedimos pra você trocar de ERP. </a:t>
            </a:r>
            <a:pPr indent="0" marL="0">
              <a:lnSpc>
                <a:spcPts val="2600"/>
              </a:lnSpc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Só conectamos o Conta Azul que você já usa ao WhatsApp.”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7406640" y="45262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8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confirmada: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REST · OAuth2 · módulos Vendas / Estoque / Financeiro / Notas · portal de desenvolvedor próprio · 2FA na configuração do app.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25" name="Image 4" descr="/home/claude/deck/assets/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364224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77824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Contábil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5486400" cy="5486400"/>
          </a:xfrm>
          <a:prstGeom prst="ellipse">
            <a:avLst/>
          </a:prstGeom>
          <a:solidFill>
            <a:srgbClr val="14146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DE CANAL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vender através da Rotina — e não direto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5117440" cy="1691640"/>
          </a:xfrm>
          <a:prstGeom prst="roundRect">
            <a:avLst>
              <a:gd name="adj" fmla="val 6486"/>
            </a:avLst>
          </a:prstGeom>
          <a:solidFill>
            <a:srgbClr val="00004A"/>
          </a:solidFill>
          <a:ln w="12700">
            <a:solidFill>
              <a:srgbClr val="23237A"/>
            </a:solidFill>
            <a:prstDash val="solid"/>
          </a:ln>
        </p:spPr>
      </p:sp>
      <p:pic>
        <p:nvPicPr>
          <p:cNvPr id="6" name="Image 0" descr="/home/claude/deck/assets/ic_c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53288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2514600"/>
            <a:ext cx="392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 quase zero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572768" y="2990088"/>
            <a:ext cx="388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Rotina já tem a base, a confiança e a relação recorrente. Não há custo de aquisição cliente a cliente.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07328" y="2240280"/>
            <a:ext cx="5117440" cy="1691640"/>
          </a:xfrm>
          <a:prstGeom prst="roundRect">
            <a:avLst>
              <a:gd name="adj" fmla="val 6486"/>
            </a:avLst>
          </a:prstGeom>
          <a:solidFill>
            <a:srgbClr val="00004A"/>
          </a:solidFill>
          <a:ln w="12700">
            <a:solidFill>
              <a:srgbClr val="23237A"/>
            </a:solidFill>
            <a:prstDash val="solid"/>
          </a:ln>
        </p:spPr>
      </p:sp>
      <p:pic>
        <p:nvPicPr>
          <p:cNvPr id="10" name="Image 1" descr="/home/claude/deck/assets/ic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936" y="2532888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13168" y="2514600"/>
            <a:ext cx="392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Contador no loop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7513168" y="2990088"/>
            <a:ext cx="388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maior risco do projeto é classificação fiscal. Com o contador validando, o risco cai e a precisão sobe.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66928" y="4251960"/>
            <a:ext cx="5117440" cy="1691640"/>
          </a:xfrm>
          <a:prstGeom prst="roundRect">
            <a:avLst>
              <a:gd name="adj" fmla="val 6486"/>
            </a:avLst>
          </a:prstGeom>
          <a:solidFill>
            <a:srgbClr val="00004A"/>
          </a:solidFill>
          <a:ln w="12700">
            <a:solidFill>
              <a:srgbClr val="23237A"/>
            </a:solidFill>
            <a:prstDash val="solid"/>
          </a:ln>
        </p:spPr>
      </p:sp>
      <p:pic>
        <p:nvPicPr>
          <p:cNvPr id="14" name="Image 2" descr="/home/claude/deck/assets/ic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544568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72768" y="4526280"/>
            <a:ext cx="392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Retenção alta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1572768" y="5001768"/>
            <a:ext cx="388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Trocar de contador é doloroso — a receita gerada pelo escritório é naturalmente “grudenta”.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507328" y="4251960"/>
            <a:ext cx="5117440" cy="1691640"/>
          </a:xfrm>
          <a:prstGeom prst="roundRect">
            <a:avLst>
              <a:gd name="adj" fmla="val 6486"/>
            </a:avLst>
          </a:prstGeom>
          <a:solidFill>
            <a:srgbClr val="00004A"/>
          </a:solidFill>
          <a:ln w="12700">
            <a:solidFill>
              <a:srgbClr val="23237A"/>
            </a:solidFill>
            <a:prstDash val="solid"/>
          </a:ln>
        </p:spPr>
      </p:sp>
      <p:pic>
        <p:nvPicPr>
          <p:cNvPr id="18" name="Image 3" descr="/home/claude/deck/assets/ic_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936" y="4544568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13168" y="4526280"/>
            <a:ext cx="392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Dois jeitos de vender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7513168" y="5001768"/>
            <a:ext cx="388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produto vira módulo white-label do escritório E pode ser vendido direto quando fizer sentido.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Contábil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NEGÓCIO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Receita recomendada: SaaS white-label vendido por assento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53003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331720"/>
            <a:ext cx="164592" cy="457200"/>
          </a:xfrm>
          <a:prstGeom prst="roundRect">
            <a:avLst>
              <a:gd name="adj" fmla="val 27778"/>
            </a:avLst>
          </a:prstGeom>
          <a:solidFill>
            <a:srgbClr val="E8A93C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2286000"/>
            <a:ext cx="438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Camada MEI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33856" y="2724912"/>
            <a:ext cx="438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alto · ticket baixo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7824" y="324612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8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  </a:t>
            </a:r>
            <a:pPr indent="0" marL="0">
              <a:lnSpc>
                <a:spcPts val="1500"/>
              </a:lnSpc>
              <a:buNone/>
            </a:pPr>
            <a:r>
              <a:rPr lang="en-US" sz="128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 fixa e baixa, por MEI ativo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877824" y="374904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8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cobrança por nota  </a:t>
            </a:r>
            <a:pPr indent="0" marL="0">
              <a:lnSpc>
                <a:spcPts val="1500"/>
              </a:lnSpc>
              <a:buNone/>
            </a:pPr>
            <a:r>
              <a:rPr lang="en-US" sz="128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(MEI é sensível a atrito de preço)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877824" y="425196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8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  </a:t>
            </a:r>
            <a:pPr indent="0" marL="0">
              <a:lnSpc>
                <a:spcPts val="1500"/>
              </a:lnSpc>
              <a:buNone/>
            </a:pPr>
            <a:r>
              <a:rPr lang="en-US" sz="128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“ilimitado” dentro de um teto de notas/mês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877824" y="475488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8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 </a:t>
            </a:r>
            <a:pPr indent="0" marL="0">
              <a:lnSpc>
                <a:spcPts val="1500"/>
              </a:lnSpc>
              <a:buNone/>
            </a:pPr>
            <a:r>
              <a:rPr lang="en-US" sz="128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Rotina revende / embute na mensalidade contábil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324448" y="2057400"/>
            <a:ext cx="53003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17056" y="2331720"/>
            <a:ext cx="164592" cy="457200"/>
          </a:xfrm>
          <a:prstGeom prst="roundRect">
            <a:avLst>
              <a:gd name="adj" fmla="val 27778"/>
            </a:avLst>
          </a:prstGeom>
          <a:solidFill>
            <a:srgbClr val="000066"/>
          </a:solidFill>
          <a:ln/>
        </p:spPr>
      </p:sp>
      <p:sp>
        <p:nvSpPr>
          <p:cNvPr id="14" name="Text 12"/>
          <p:cNvSpPr/>
          <p:nvPr/>
        </p:nvSpPr>
        <p:spPr>
          <a:xfrm>
            <a:off x="6891376" y="2286000"/>
            <a:ext cx="438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Camada ME / EPP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891376" y="2724912"/>
            <a:ext cx="438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mais alto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35344" y="324612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8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  </a:t>
            </a:r>
            <a:pPr indent="0" marL="0">
              <a:lnSpc>
                <a:spcPts val="1500"/>
              </a:lnSpc>
              <a:buNone/>
            </a:pPr>
            <a:r>
              <a:rPr lang="en-US" sz="128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única para configurar o adaptador do ERP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6635344" y="374904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8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  </a:t>
            </a:r>
            <a:pPr indent="0" marL="0">
              <a:lnSpc>
                <a:spcPts val="1500"/>
              </a:lnSpc>
              <a:buNone/>
            </a:pPr>
            <a:r>
              <a:rPr lang="en-US" sz="128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 por volume de interação / usuário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6635344" y="425196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8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 </a:t>
            </a:r>
            <a:pPr indent="0" marL="0">
              <a:lnSpc>
                <a:spcPts val="1500"/>
              </a:lnSpc>
              <a:buNone/>
            </a:pPr>
            <a:r>
              <a:rPr lang="en-US" sz="128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Rotina aplica markup sobre o atacado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6635344" y="475488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8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  </a:t>
            </a:r>
            <a:pPr indent="0" marL="0">
              <a:lnSpc>
                <a:spcPts val="1500"/>
              </a:lnSpc>
              <a:buNone/>
            </a:pPr>
            <a:r>
              <a:rPr lang="en-US" sz="128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 ERPs entram conforme demanda paga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566928" y="5486400"/>
            <a:ext cx="11057839" cy="868680"/>
          </a:xfrm>
          <a:prstGeom prst="roundRect">
            <a:avLst>
              <a:gd name="adj" fmla="val 10526"/>
            </a:avLst>
          </a:prstGeom>
          <a:solidFill>
            <a:srgbClr val="FBEFD9"/>
          </a:solidFill>
          <a:ln w="12700">
            <a:solidFill>
              <a:srgbClr val="F2D4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5596128"/>
            <a:ext cx="10417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80" b="1" dirty="0">
                <a:solidFill>
                  <a:srgbClr val="9A6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nos dois casos:  </a:t>
            </a:r>
            <a:pPr indent="0" marL="0">
              <a:lnSpc>
                <a:spcPts val="1600"/>
              </a:lnSpc>
              <a:buNone/>
            </a:pPr>
            <a:r>
              <a:rPr lang="en-US" sz="1280" dirty="0">
                <a:solidFill>
                  <a:srgbClr val="7A5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por crédito/consumo de IA · contrato anual antes de provar valor · prometer todos os ERPs/estados no dia 1. Comece estreito (1 região fiscal + Conta Azul) e expanda com receita validada.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pic>
        <p:nvPicPr>
          <p:cNvPr id="23" name="Image 0" descr="/home/claude/deck/assets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64224"/>
            <a:ext cx="237744" cy="23774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77824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Contábil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cérebro, vários adaptadores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83464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E8A93C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294436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6656" y="329184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API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(via BSP)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95728" y="3474720"/>
            <a:ext cx="502920" cy="0"/>
          </a:xfrm>
          <a:prstGeom prst="line">
            <a:avLst/>
          </a:prstGeom>
          <a:noFill/>
          <a:ln w="25400">
            <a:solidFill>
              <a:srgbClr val="6E6E8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98648" y="2423160"/>
            <a:ext cx="3200400" cy="2331720"/>
          </a:xfrm>
          <a:prstGeom prst="roundRect">
            <a:avLst>
              <a:gd name="adj" fmla="val 3922"/>
            </a:avLst>
          </a:prstGeom>
          <a:solidFill>
            <a:srgbClr val="000066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08376" y="253288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Orquestrador (Backend)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08376" y="2880360"/>
            <a:ext cx="2980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(function-calling)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idempotência · estado da conversa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aprovação humana por tier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99048" y="3474720"/>
            <a:ext cx="502920" cy="0"/>
          </a:xfrm>
          <a:prstGeom prst="line">
            <a:avLst/>
          </a:prstGeom>
          <a:noFill/>
          <a:ln w="25400">
            <a:solidFill>
              <a:srgbClr val="6E6E8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01968" y="2423160"/>
            <a:ext cx="2194560" cy="2331720"/>
          </a:xfrm>
          <a:prstGeom prst="roundRect">
            <a:avLst>
              <a:gd name="adj" fmla="val 4167"/>
            </a:avLst>
          </a:prstGeom>
          <a:solidFill>
            <a:srgbClr val="14146A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11696" y="253288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de adaptadores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11696" y="2880360"/>
            <a:ext cx="19751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única: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· criar rascunho · emitir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70848" y="21945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80576" y="230428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NFS-e Nacional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80576" y="265176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ADN / Sefin · REST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70848" y="342900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80576" y="353872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Conta Azul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180576" y="388620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· OAuth2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96528" y="2743200"/>
            <a:ext cx="256032" cy="0"/>
          </a:xfrm>
          <a:prstGeom prst="line">
            <a:avLst/>
          </a:prstGeom>
          <a:noFill/>
          <a:ln w="25400">
            <a:solidFill>
              <a:srgbClr val="6E6E8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796528" y="3931920"/>
            <a:ext cx="256032" cy="0"/>
          </a:xfrm>
          <a:prstGeom prst="line">
            <a:avLst/>
          </a:prstGeom>
          <a:noFill/>
          <a:ln w="25400">
            <a:solidFill>
              <a:srgbClr val="6E6E8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898648" y="4983480"/>
            <a:ext cx="5897880" cy="914400"/>
          </a:xfrm>
          <a:prstGeom prst="roundRect">
            <a:avLst>
              <a:gd name="adj" fmla="val 10000"/>
            </a:avLst>
          </a:prstGeom>
          <a:solidFill>
            <a:srgbClr val="FBEFD9"/>
          </a:solidFill>
          <a:ln w="12700">
            <a:solidFill>
              <a:srgbClr val="F2D49B"/>
            </a:solidFill>
            <a:prstDash val="solid"/>
          </a:ln>
        </p:spPr>
      </p:sp>
      <p:pic>
        <p:nvPicPr>
          <p:cNvPr id="24" name="Image 0" descr="/home/claude/deck/assets/ic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7248" y="5175504"/>
            <a:ext cx="502920" cy="5029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3767328" y="51389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9A6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Cofre de credenciais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7A5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(KMS/HSM) — tokens OAuth e procuração eletrônica isolados. Nunca .pfx cru.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070848" y="47548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padrão de adaptador serve qualquer ERP futuro (Bling, Tiny, Omie…) sem reescrever o agente.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pic>
        <p:nvPicPr>
          <p:cNvPr id="28" name="Image 1" descr="/home/claude/deck/assets/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64224"/>
            <a:ext cx="237744" cy="23774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877824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Contábil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 RECOMENDADA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enxuto para o piloto — pronto pra escalar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3472586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pic>
        <p:nvPicPr>
          <p:cNvPr id="5" name="Image 0" descr="/home/claude/deck/assets/ic_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59152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2377440"/>
            <a:ext cx="23753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2960" y="2971800"/>
            <a:ext cx="29696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Business Platform (Cloud API) via BSP homologado no Brasil (ex.: 360dialog, Gupshup, Meta direto).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59554" y="2103120"/>
            <a:ext cx="3472586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pic>
        <p:nvPicPr>
          <p:cNvPr id="9" name="Image 1" descr="/home/claude/deck/assets/ic_ge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86" y="2359152"/>
            <a:ext cx="530352" cy="5303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73954" y="2377440"/>
            <a:ext cx="23753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615586" y="2971800"/>
            <a:ext cx="29696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Node.js/TypeScript (NestJS) ou Python (FastAPI). Function-calling com a API Claude para orquestrar.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52181" y="2103120"/>
            <a:ext cx="3472586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pic>
        <p:nvPicPr>
          <p:cNvPr id="13" name="Image 2" descr="/home/claude/deck/assets/ic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213" y="2359152"/>
            <a:ext cx="530352" cy="5303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66581" y="2377440"/>
            <a:ext cx="23753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&amp; fila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408213" y="2971800"/>
            <a:ext cx="29696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gerenciado + Redis/fila (BullMQ ou SQS) para idempotência e retries.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66928" y="4160520"/>
            <a:ext cx="3472586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pic>
        <p:nvPicPr>
          <p:cNvPr id="17" name="Image 3" descr="/home/claude/deck/assets/ic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16552"/>
            <a:ext cx="530352" cy="5303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81328" y="4434840"/>
            <a:ext cx="23753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Segredos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22960" y="5029200"/>
            <a:ext cx="29696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Manager + KMS/HSM. Tokens OAuth e procuração em cofre isolado, criptografia em repouso.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359554" y="4160520"/>
            <a:ext cx="3472586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pic>
        <p:nvPicPr>
          <p:cNvPr id="21" name="Image 4" descr="/home/claude/deck/assets/ic_do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5586" y="4416552"/>
            <a:ext cx="530352" cy="53035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73954" y="4434840"/>
            <a:ext cx="23753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Fiscal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4615586" y="5029200"/>
            <a:ext cx="29696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 na API NFS-e Nacional (ambiente restrito → produção). NF-e de produto via middleware “NF como serviço”.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152181" y="4160520"/>
            <a:ext cx="3472586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pic>
        <p:nvPicPr>
          <p:cNvPr id="25" name="Image 5" descr="/home/claude/deck/assets/ic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8213" y="4416552"/>
            <a:ext cx="530352" cy="53035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066581" y="4434840"/>
            <a:ext cx="23753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Observabilidade</a:t>
            </a:r>
            <a:endParaRPr lang="en-US" sz="1550" dirty="0"/>
          </a:p>
        </p:txBody>
      </p:sp>
      <p:sp>
        <p:nvSpPr>
          <p:cNvPr id="27" name="Text 19"/>
          <p:cNvSpPr/>
          <p:nvPr/>
        </p:nvSpPr>
        <p:spPr>
          <a:xfrm>
            <a:off x="8408213" y="5029200"/>
            <a:ext cx="29696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Trilha de auditoria obrigatória de ações fiscais, logs estruturados, Sentry, alertas de rejeição.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66928" y="605332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Região:  </a:t>
            </a:r>
            <a:pPr algn="ctr" indent="0" marL="0">
              <a:buNone/>
            </a:pPr>
            <a:r>
              <a:rPr lang="en-US" sz="110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hospedar em nuvem no Brasil (ex.: AWS sa-east-1) por LGPD e latência; para o piloto, um PaaS também serve.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pic>
        <p:nvPicPr>
          <p:cNvPr id="30" name="Image 6" descr="/home/claude/deck/assets/m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364224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77824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Contábil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108960"/>
            <a:ext cx="5486400" cy="5486400"/>
          </a:xfrm>
          <a:prstGeom prst="ellipse">
            <a:avLst/>
          </a:prstGeom>
          <a:solidFill>
            <a:srgbClr val="14146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CUSTÓDIA &amp; SEGURANÇA · LGPD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decisão mais importante do projeto: identidade fiscal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7589520" cy="1097280"/>
          </a:xfrm>
          <a:prstGeom prst="roundRect">
            <a:avLst>
              <a:gd name="adj" fmla="val 8333"/>
            </a:avLst>
          </a:prstGeom>
          <a:solidFill>
            <a:srgbClr val="00004A"/>
          </a:solidFill>
          <a:ln w="12700">
            <a:solidFill>
              <a:srgbClr val="2323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532888"/>
            <a:ext cx="502920" cy="502920"/>
          </a:xfrm>
          <a:prstGeom prst="ellipse">
            <a:avLst/>
          </a:prstGeom>
          <a:solidFill>
            <a:srgbClr val="E8A93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27048" y="24048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Procuração eletrônica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27048" y="27432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8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gov.br / e-CAC com escopo limitado. O cliente autoriza a aplicação a agir por ele, sem você guardar certificado. Ponto de partida recomendado.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6510528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E8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3502152"/>
            <a:ext cx="7589520" cy="1097280"/>
          </a:xfrm>
          <a:prstGeom prst="roundRect">
            <a:avLst>
              <a:gd name="adj" fmla="val 8333"/>
            </a:avLst>
          </a:prstGeom>
          <a:solidFill>
            <a:srgbClr val="00004A"/>
          </a:solidFill>
          <a:ln w="12700">
            <a:solidFill>
              <a:srgbClr val="2323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94760"/>
            <a:ext cx="502920" cy="502920"/>
          </a:xfrm>
          <a:prstGeom prst="ellipse">
            <a:avLst/>
          </a:prstGeom>
          <a:solidFill>
            <a:srgbClr val="5C7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27048" y="36667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Certificado em nuvem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27048" y="400507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8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Autoridade Certificadora guarda o certificado; a aplicação recebe só um token de assinatura por sessão.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6510528" y="36850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5C7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ACEITÁVEL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764024"/>
            <a:ext cx="7589520" cy="1097280"/>
          </a:xfrm>
          <a:prstGeom prst="roundRect">
            <a:avLst>
              <a:gd name="adj" fmla="val 8333"/>
            </a:avLst>
          </a:prstGeom>
          <a:solidFill>
            <a:srgbClr val="00004A"/>
          </a:solidFill>
          <a:ln w="12700">
            <a:solidFill>
              <a:srgbClr val="2323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056632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27048" y="49286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 guardando o .pfx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27048" y="526694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8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 infraestrutura for comprometida, um atacante emite nota falsa em nome do cliente. Risco máximo.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6510528" y="49469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366760" y="2240280"/>
            <a:ext cx="3246120" cy="3749040"/>
          </a:xfrm>
          <a:prstGeom prst="roundRect">
            <a:avLst>
              <a:gd name="adj" fmla="val 3380"/>
            </a:avLst>
          </a:prstGeom>
          <a:solidFill>
            <a:srgbClr val="E8A93C"/>
          </a:solidFill>
          <a:ln/>
        </p:spPr>
      </p:sp>
      <p:pic>
        <p:nvPicPr>
          <p:cNvPr id="24" name="Image 0" descr="/home/claude/deck/assets/ic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2468880"/>
            <a:ext cx="640080" cy="6400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64108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 LGPD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641080" y="36393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942832" y="36210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dirty="0">
                <a:solidFill>
                  <a:srgbClr val="000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DPA assinado com a Rotina</a:t>
            </a:r>
            <a:endParaRPr lang="en-US" sz="1180" dirty="0"/>
          </a:p>
        </p:txBody>
      </p:sp>
      <p:sp>
        <p:nvSpPr>
          <p:cNvPr id="28" name="Text 25"/>
          <p:cNvSpPr/>
          <p:nvPr/>
        </p:nvSpPr>
        <p:spPr>
          <a:xfrm>
            <a:off x="8641080" y="40965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942832" y="40782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dirty="0">
                <a:solidFill>
                  <a:srgbClr val="000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Minimização e consentimento de dados</a:t>
            </a:r>
            <a:endParaRPr lang="en-US" sz="1180" dirty="0"/>
          </a:p>
        </p:txBody>
      </p:sp>
      <p:sp>
        <p:nvSpPr>
          <p:cNvPr id="30" name="Text 27"/>
          <p:cNvSpPr/>
          <p:nvPr/>
        </p:nvSpPr>
        <p:spPr>
          <a:xfrm>
            <a:off x="8641080" y="45537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942832" y="45354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dirty="0">
                <a:solidFill>
                  <a:srgbClr val="000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Criptografia em repouso e trânsito</a:t>
            </a:r>
            <a:endParaRPr lang="en-US" sz="1180" dirty="0"/>
          </a:p>
        </p:txBody>
      </p:sp>
      <p:sp>
        <p:nvSpPr>
          <p:cNvPr id="32" name="Text 29"/>
          <p:cNvSpPr/>
          <p:nvPr/>
        </p:nvSpPr>
        <p:spPr>
          <a:xfrm>
            <a:off x="8641080" y="50109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942832" y="49926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dirty="0">
                <a:solidFill>
                  <a:srgbClr val="000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Trilha de auditoria de toda ação fiscal</a:t>
            </a:r>
            <a:endParaRPr lang="en-US" sz="1180" dirty="0"/>
          </a:p>
        </p:txBody>
      </p:sp>
      <p:sp>
        <p:nvSpPr>
          <p:cNvPr id="34" name="Text 31"/>
          <p:cNvSpPr/>
          <p:nvPr/>
        </p:nvSpPr>
        <p:spPr>
          <a:xfrm>
            <a:off x="8641080" y="54681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8942832" y="54498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dirty="0">
                <a:solidFill>
                  <a:srgbClr val="000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de contingência + retry (sem falha silenciosa)</a:t>
            </a:r>
            <a:endParaRPr lang="en-US" sz="1180" dirty="0"/>
          </a:p>
        </p:txBody>
      </p:sp>
      <p:sp>
        <p:nvSpPr>
          <p:cNvPr id="36" name="Text 33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Contábil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DAS AÇÕES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Tiers de risco — quem decide cada ação do agente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04088" y="2194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27048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447288" y="2194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53528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DECIDE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651760"/>
            <a:ext cx="11057839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788920"/>
            <a:ext cx="438912" cy="438912"/>
          </a:xfrm>
          <a:prstGeom prst="ellipse">
            <a:avLst/>
          </a:prstGeom>
          <a:solidFill>
            <a:srgbClr val="00006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8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81328" y="265176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01568" y="265176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pedido, estoque, status de nota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07808" y="265176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decide sozinho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493008"/>
            <a:ext cx="11057839" cy="713232"/>
          </a:xfrm>
          <a:prstGeom prst="roundRect">
            <a:avLst>
              <a:gd name="adj" fmla="val 10256"/>
            </a:avLst>
          </a:prstGeom>
          <a:solidFill>
            <a:srgbClr val="F4F4FB"/>
          </a:solidFill>
          <a:ln w="12700">
            <a:solidFill>
              <a:srgbClr val="E5E5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30168"/>
            <a:ext cx="438912" cy="438912"/>
          </a:xfrm>
          <a:prstGeom prst="ellipse">
            <a:avLst/>
          </a:prstGeom>
          <a:solidFill>
            <a:srgbClr val="E8A93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30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81328" y="349300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Escrita baixa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01568" y="349300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rascunho de pedido / emitir NFS-e simples validada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607808" y="349300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cria; nada confirma sem aprovação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334256"/>
            <a:ext cx="11057839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471416"/>
            <a:ext cx="438912" cy="438912"/>
          </a:xfrm>
          <a:prstGeom prst="ellipse">
            <a:avLst/>
          </a:prstGeom>
          <a:solidFill>
            <a:srgbClr val="DB7B2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471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81328" y="433425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Escrita média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401568" y="433425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Alterar item/quantidade de pedido não confirmado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607808" y="4334256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 humana em 1 clique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5175504"/>
            <a:ext cx="11057839" cy="713232"/>
          </a:xfrm>
          <a:prstGeom prst="roundRect">
            <a:avLst>
              <a:gd name="adj" fmla="val 10256"/>
            </a:avLst>
          </a:prstGeom>
          <a:solidFill>
            <a:srgbClr val="F4F4FB"/>
          </a:solidFill>
          <a:ln w="12700">
            <a:solidFill>
              <a:srgbClr val="E5E5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5312664"/>
            <a:ext cx="438912" cy="43891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312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81328" y="5175504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Escrita alta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401568" y="5175504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confirmado, endereço, pagamento, cancelamento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607808" y="517550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 humana + confirmação fora do WhatsApp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66928" y="612648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piloto, escrita fica em Tier 0–1. Tier 2–3 só entram após validar precisão e responsabilidade.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pic>
        <p:nvPicPr>
          <p:cNvPr id="34" name="Image 0" descr="/home/claude/deck/assets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64224"/>
            <a:ext cx="237744" cy="237744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77824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Contábil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PILOTO NA ROTINA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Escopo estreito, evidência rápida — ~10 a 12 semanas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252443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411480" cy="411480"/>
          </a:xfrm>
          <a:prstGeom prst="ellipse">
            <a:avLst/>
          </a:prstGeom>
          <a:solidFill>
            <a:srgbClr val="E8A93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44168" y="2304288"/>
            <a:ext cx="1610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Sem. 1–3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761488"/>
            <a:ext cx="20672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Fundação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310128"/>
            <a:ext cx="20672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WhatsApp Cloud API, backend, cofre, fluxo de procuração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11398" y="2057400"/>
            <a:ext cx="252443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7430" y="2286000"/>
            <a:ext cx="411480" cy="411480"/>
          </a:xfrm>
          <a:prstGeom prst="ellipse">
            <a:avLst/>
          </a:prstGeom>
          <a:solidFill>
            <a:srgbClr val="E8A93C"/>
          </a:solidFill>
          <a:ln/>
        </p:spPr>
      </p:sp>
      <p:sp>
        <p:nvSpPr>
          <p:cNvPr id="12" name="Text 10"/>
          <p:cNvSpPr/>
          <p:nvPr/>
        </p:nvSpPr>
        <p:spPr>
          <a:xfrm>
            <a:off x="366743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88638" y="2304288"/>
            <a:ext cx="1610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Sem. 3–6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67430" y="2761488"/>
            <a:ext cx="20672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 Fiscal MEI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667430" y="3310128"/>
            <a:ext cx="20672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NFS-e em ambiente restrito → produção, coorte de 15–25 MEIs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5868" y="2057400"/>
            <a:ext cx="252443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1900" y="2286000"/>
            <a:ext cx="411480" cy="411480"/>
          </a:xfrm>
          <a:prstGeom prst="ellipse">
            <a:avLst/>
          </a:prstGeom>
          <a:solidFill>
            <a:srgbClr val="5B67C9"/>
          </a:solidFill>
          <a:ln/>
        </p:spPr>
      </p:sp>
      <p:sp>
        <p:nvSpPr>
          <p:cNvPr id="18" name="Text 16"/>
          <p:cNvSpPr/>
          <p:nvPr/>
        </p:nvSpPr>
        <p:spPr>
          <a:xfrm>
            <a:off x="651190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33108" y="2304288"/>
            <a:ext cx="1610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Sem. 5–8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11900" y="2761488"/>
            <a:ext cx="20672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 Conta Azul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511900" y="3310128"/>
            <a:ext cx="20672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OAuth2 + leitura/rascunho (Tier 0–1), 5–8 clientes ME/EPP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00337" y="2057400"/>
            <a:ext cx="252443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5E5F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66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56369" y="2286000"/>
            <a:ext cx="411480" cy="411480"/>
          </a:xfrm>
          <a:prstGeom prst="ellipse">
            <a:avLst/>
          </a:prstGeom>
          <a:solidFill>
            <a:srgbClr val="000066"/>
          </a:solidFill>
          <a:ln/>
        </p:spPr>
      </p:sp>
      <p:sp>
        <p:nvSpPr>
          <p:cNvPr id="24" name="Text 22"/>
          <p:cNvSpPr/>
          <p:nvPr/>
        </p:nvSpPr>
        <p:spPr>
          <a:xfrm>
            <a:off x="9356369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877577" y="2304288"/>
            <a:ext cx="1610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Sem. 8–12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56369" y="2761488"/>
            <a:ext cx="20672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00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Operar &amp; medir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356369" y="3310128"/>
            <a:ext cx="20672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B1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Rodar, coletar métricas, decidir expansão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297680"/>
            <a:ext cx="11057839" cy="1828800"/>
          </a:xfrm>
          <a:prstGeom prst="roundRect">
            <a:avLst>
              <a:gd name="adj" fmla="val 6000"/>
            </a:avLst>
          </a:prstGeom>
          <a:solidFill>
            <a:srgbClr val="000066"/>
          </a:solidFill>
          <a:ln/>
        </p:spPr>
      </p:sp>
      <p:sp>
        <p:nvSpPr>
          <p:cNvPr id="29" name="Text 27"/>
          <p:cNvSpPr/>
          <p:nvPr/>
        </p:nvSpPr>
        <p:spPr>
          <a:xfrm>
            <a:off x="932688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Métricas de sucesso do piloto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32688" y="4983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Ativação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32688" y="5303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da coorte que emite/consulta pela 1ª vez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145536" y="4983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Adoção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145536" y="5303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notas via WhatsApp vs portal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58384" y="4983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58384" y="5303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rejeição / erro fiscal ≈ 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71232" y="4983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Eficiência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571232" y="5303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p/ emitir e horas do contador economizadas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784080" y="4983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Satisfação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784080" y="5303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+ disposição a pagar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pic>
        <p:nvPicPr>
          <p:cNvPr id="41" name="Image 0" descr="/home/claude/deck/assets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64224"/>
            <a:ext cx="237744" cy="237744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77824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Contábil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14146A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4008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/>
        </p:spPr>
      </p:sp>
      <p:pic>
        <p:nvPicPr>
          <p:cNvPr id="4" name="Image 0" descr="/home/claude/deck/assets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40664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3896" y="64008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Contábil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66928" y="1828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 para o kickoff</a:t>
            </a:r>
            <a:endParaRPr lang="en-US" sz="3400" dirty="0"/>
          </a:p>
        </p:txBody>
      </p:sp>
      <p:pic>
        <p:nvPicPr>
          <p:cNvPr id="7" name="Image 1" descr="/home/claude/deck/assets/ic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7432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6974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9E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modelo de custódia (procuração eletrônica como ponto de partida)</a:t>
            </a:r>
            <a:endParaRPr lang="en-US" sz="1400" dirty="0"/>
          </a:p>
        </p:txBody>
      </p:sp>
      <p:pic>
        <p:nvPicPr>
          <p:cNvPr id="9" name="Image 2" descr="/home/claude/deck/assets/ic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70332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36576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9E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e testes no ambiente de homologação da API NFS-e Nacional</a:t>
            </a:r>
            <a:endParaRPr lang="en-US" sz="1400" dirty="0"/>
          </a:p>
        </p:txBody>
      </p:sp>
      <p:pic>
        <p:nvPicPr>
          <p:cNvPr id="11" name="Image 3" descr="/home/claude/deck/assets/ic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663440"/>
            <a:ext cx="457200" cy="457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46177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9E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app desenvolvedor no Conta Azul (OAuth2) e validar escopos</a:t>
            </a:r>
            <a:endParaRPr lang="en-US" sz="1400" dirty="0"/>
          </a:p>
        </p:txBody>
      </p:sp>
      <p:pic>
        <p:nvPicPr>
          <p:cNvPr id="13" name="Image 4" descr="/home/claude/deck/assets/ic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2743200"/>
            <a:ext cx="457200" cy="4572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766560" y="26974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9E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a coorte do piloto na base da Rotina (MEIs + ME/EPP Conta Azul)</a:t>
            </a:r>
            <a:endParaRPr lang="en-US" sz="1400" dirty="0"/>
          </a:p>
        </p:txBody>
      </p:sp>
      <p:pic>
        <p:nvPicPr>
          <p:cNvPr id="15" name="Image 5" descr="/home/claude/deck/assets/ic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3703320"/>
            <a:ext cx="457200" cy="4572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766560" y="36576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9E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tiers de risco 0–1 em toda escrita do piloto</a:t>
            </a:r>
            <a:endParaRPr lang="en-US" sz="1400" dirty="0"/>
          </a:p>
        </p:txBody>
      </p:sp>
      <p:pic>
        <p:nvPicPr>
          <p:cNvPr id="17" name="Image 6" descr="/home/claude/deck/assets/ic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68" y="4663440"/>
            <a:ext cx="457200" cy="4572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766560" y="46177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9E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 com advogado sobre responsabilidade antes de escrita real em produção</a:t>
            </a:r>
            <a:endParaRPr lang="en-US" sz="1400" dirty="0"/>
          </a:p>
        </p:txBody>
      </p:sp>
      <p:sp>
        <p:nvSpPr>
          <p:cNvPr id="19" name="Shape 10"/>
          <p:cNvSpPr/>
          <p:nvPr/>
        </p:nvSpPr>
        <p:spPr>
          <a:xfrm>
            <a:off x="566928" y="5897880"/>
            <a:ext cx="11057839" cy="548640"/>
          </a:xfrm>
          <a:prstGeom prst="roundRect">
            <a:avLst>
              <a:gd name="adj" fmla="val 16667"/>
            </a:avLst>
          </a:prstGeom>
          <a:solidFill>
            <a:srgbClr val="E8A93C"/>
          </a:solidFill>
          <a:ln/>
        </p:spPr>
      </p:sp>
      <p:sp>
        <p:nvSpPr>
          <p:cNvPr id="20" name="Text 11"/>
          <p:cNvSpPr/>
          <p:nvPr/>
        </p:nvSpPr>
        <p:spPr>
          <a:xfrm>
            <a:off x="566928" y="58978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00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Comece estreito — 1 região fiscal + Conta Azul — e expanda só com receita validada.</a:t>
            </a:r>
            <a:endParaRPr lang="en-US" sz="1500" dirty="0"/>
          </a:p>
        </p:txBody>
      </p:sp>
      <p:sp>
        <p:nvSpPr>
          <p:cNvPr id="21" name="Text 12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22" name="Text 13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Contábil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Rotina Contábil — Gestão e Fiscal via WhatsApp (Piloto)</dc:title>
  <dc:subject>PptxGenJS Presentation</dc:subject>
  <dc:creator>Análise de Negócios</dc:creator>
  <cp:lastModifiedBy>Análise de Negócios</cp:lastModifiedBy>
  <cp:revision>1</cp:revision>
  <dcterms:created xsi:type="dcterms:W3CDTF">2026-06-24T19:41:10Z</dcterms:created>
  <dcterms:modified xsi:type="dcterms:W3CDTF">2026-06-24T19:41:10Z</dcterms:modified>
</cp:coreProperties>
</file>